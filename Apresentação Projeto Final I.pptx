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9"/>
  </p:notesMasterIdLst>
  <p:handoutMasterIdLst>
    <p:handoutMasterId r:id="rId20"/>
  </p:handoutMasterIdLst>
  <p:sldIdLst>
    <p:sldId id="410" r:id="rId5"/>
    <p:sldId id="383" r:id="rId6"/>
    <p:sldId id="391" r:id="rId7"/>
    <p:sldId id="411" r:id="rId8"/>
    <p:sldId id="412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39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138" autoAdjust="0"/>
  </p:normalViewPr>
  <p:slideViewPr>
    <p:cSldViewPr snapToGrid="0">
      <p:cViewPr varScale="1">
        <p:scale>
          <a:sx n="99" d="100"/>
          <a:sy n="99" d="100"/>
        </p:scale>
        <p:origin x="103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9/18/2024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Silva (2021) – </a:t>
            </a:r>
            <a:r>
              <a:rPr lang="en-US" dirty="0" err="1"/>
              <a:t>Bilingua</a:t>
            </a:r>
            <a:br>
              <a:rPr lang="en-US" dirty="0"/>
            </a:br>
            <a:r>
              <a:rPr lang="en-US" dirty="0"/>
              <a:t>Silva (2018) – </a:t>
            </a:r>
            <a:r>
              <a:rPr lang="en-US" dirty="0" err="1"/>
              <a:t>SalaBil</a:t>
            </a:r>
            <a:endParaRPr lang="en-US" dirty="0"/>
          </a:p>
          <a:p>
            <a:r>
              <a:rPr lang="en-US" dirty="0"/>
              <a:t>Lima (2018) – Sistema para </a:t>
            </a:r>
            <a:r>
              <a:rPr lang="en-US" dirty="0" err="1"/>
              <a:t>Treinamento</a:t>
            </a:r>
            <a:r>
              <a:rPr lang="en-US" dirty="0"/>
              <a:t> de LIBRAS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251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295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384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939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756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668758" y="6610349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668760" y="6610349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8760" y="6610349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8760" y="6610349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592454"/>
            <a:ext cx="5486400" cy="3291840"/>
          </a:xfrm>
        </p:spPr>
        <p:txBody>
          <a:bodyPr/>
          <a:lstStyle/>
          <a:p>
            <a:r>
              <a:rPr lang="en-US" dirty="0"/>
              <a:t>Um Sistema de </a:t>
            </a:r>
            <a:r>
              <a:rPr lang="pt-BR" dirty="0"/>
              <a:t>gestão</a:t>
            </a:r>
            <a:r>
              <a:rPr lang="en-US" dirty="0"/>
              <a:t> para </a:t>
            </a:r>
            <a:r>
              <a:rPr lang="pt-BR" dirty="0"/>
              <a:t>apoio</a:t>
            </a:r>
            <a:r>
              <a:rPr lang="en-US" dirty="0"/>
              <a:t> </a:t>
            </a:r>
            <a:r>
              <a:rPr lang="pt-BR" dirty="0"/>
              <a:t>ao</a:t>
            </a:r>
            <a:r>
              <a:rPr lang="en-US" dirty="0"/>
              <a:t> </a:t>
            </a:r>
            <a:r>
              <a:rPr lang="pt-BR" dirty="0"/>
              <a:t>aplicativo</a:t>
            </a:r>
            <a:r>
              <a:rPr lang="en-US" dirty="0"/>
              <a:t> Hora da </a:t>
            </a:r>
            <a:r>
              <a:rPr lang="pt-BR" dirty="0"/>
              <a:t>Libras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A3DD0-7C3E-620D-AF01-EAADC1915B92}"/>
              </a:ext>
            </a:extLst>
          </p:cNvPr>
          <p:cNvSpPr txBox="1"/>
          <p:nvPr/>
        </p:nvSpPr>
        <p:spPr>
          <a:xfrm>
            <a:off x="6096000" y="4086225"/>
            <a:ext cx="343247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>
                <a:solidFill>
                  <a:schemeClr val="bg1"/>
                </a:solidFill>
              </a:rPr>
              <a:t>Projeto Final I – 2024.1</a:t>
            </a:r>
            <a:br>
              <a:rPr lang="pt-BR">
                <a:solidFill>
                  <a:schemeClr val="bg1"/>
                </a:solidFill>
              </a:rPr>
            </a:br>
            <a:br>
              <a:rPr lang="pt-BR">
                <a:solidFill>
                  <a:schemeClr val="bg1"/>
                </a:solidFill>
              </a:rPr>
            </a:br>
            <a:r>
              <a:rPr lang="pt-BR">
                <a:solidFill>
                  <a:schemeClr val="bg1"/>
                </a:solidFill>
              </a:rPr>
              <a:t>Raul Martins Furtado Fernandes </a:t>
            </a:r>
            <a:br>
              <a:rPr lang="pt-BR">
                <a:solidFill>
                  <a:schemeClr val="bg1"/>
                </a:solidFill>
              </a:rPr>
            </a:br>
            <a:r>
              <a:rPr lang="pt-BR">
                <a:solidFill>
                  <a:schemeClr val="bg1"/>
                </a:solidFill>
              </a:rPr>
              <a:t>(raul.fernandes@aluno.cefet-rj.br)</a:t>
            </a:r>
            <a:br>
              <a:rPr lang="pt-BR">
                <a:solidFill>
                  <a:schemeClr val="bg1"/>
                </a:solidFill>
              </a:rPr>
            </a:br>
            <a:br>
              <a:rPr lang="pt-BR">
                <a:solidFill>
                  <a:schemeClr val="bg1"/>
                </a:solidFill>
              </a:rPr>
            </a:br>
            <a:r>
              <a:rPr lang="pt-BR">
                <a:solidFill>
                  <a:schemeClr val="bg1"/>
                </a:solidFill>
              </a:rPr>
              <a:t>Orientador: </a:t>
            </a:r>
            <a:br>
              <a:rPr lang="pt-BR">
                <a:solidFill>
                  <a:schemeClr val="bg1"/>
                </a:solidFill>
              </a:rPr>
            </a:br>
            <a:r>
              <a:rPr lang="pt-BR">
                <a:solidFill>
                  <a:schemeClr val="bg1"/>
                </a:solidFill>
              </a:rPr>
              <a:t>Thiago Delgado Pinto</a:t>
            </a:r>
            <a:br>
              <a:rPr lang="pt-BR">
                <a:solidFill>
                  <a:schemeClr val="bg1"/>
                </a:solidFill>
              </a:rPr>
            </a:br>
            <a:r>
              <a:rPr lang="pt-BR">
                <a:solidFill>
                  <a:schemeClr val="bg1"/>
                </a:solidFill>
              </a:rPr>
              <a:t>(thiago.pinto@cefet-rj.br)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>
            <a:normAutofit/>
          </a:bodyPr>
          <a:lstStyle/>
          <a:p>
            <a:r>
              <a:rPr lang="pt-BR" dirty="0"/>
              <a:t>Introdução</a:t>
            </a:r>
          </a:p>
          <a:p>
            <a:r>
              <a:rPr lang="pt-BR" dirty="0"/>
              <a:t>Motivação</a:t>
            </a:r>
          </a:p>
          <a:p>
            <a:r>
              <a:rPr lang="pt-BR" dirty="0"/>
              <a:t>Objetivos</a:t>
            </a:r>
          </a:p>
          <a:p>
            <a:r>
              <a:rPr lang="pt-BR" dirty="0"/>
              <a:t>Trabalhos Relacionados</a:t>
            </a:r>
          </a:p>
          <a:p>
            <a:r>
              <a:rPr lang="pt-BR" dirty="0"/>
              <a:t>Requisitos Funcionais</a:t>
            </a:r>
          </a:p>
          <a:p>
            <a:r>
              <a:rPr lang="pt-BR" dirty="0"/>
              <a:t>Requisitos Não-Funcionais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38D3996-57AD-9073-72A0-58ABE3DD3F8B}"/>
              </a:ext>
            </a:extLst>
          </p:cNvPr>
          <p:cNvSpPr txBox="1">
            <a:spLocks/>
          </p:cNvSpPr>
          <p:nvPr/>
        </p:nvSpPr>
        <p:spPr>
          <a:xfrm>
            <a:off x="4668307" y="2279653"/>
            <a:ext cx="6788150" cy="3709987"/>
          </a:xfrm>
          <a:prstGeom prst="rect">
            <a:avLst/>
          </a:prstGeom>
        </p:spPr>
        <p:txBody>
          <a:bodyPr vert="horz" lIns="0" tIns="4572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Metodologia</a:t>
            </a:r>
          </a:p>
          <a:p>
            <a:r>
              <a:rPr lang="pt-BR" dirty="0"/>
              <a:t>Arquitetura</a:t>
            </a:r>
          </a:p>
          <a:p>
            <a:r>
              <a:rPr lang="pt-BR" dirty="0"/>
              <a:t>Tecnologias</a:t>
            </a:r>
          </a:p>
          <a:p>
            <a:r>
              <a:rPr lang="pt-BR" dirty="0"/>
              <a:t>Cronograma</a:t>
            </a:r>
          </a:p>
          <a:p>
            <a:r>
              <a:rPr lang="pt-BR" dirty="0"/>
              <a:t>Refecências</a:t>
            </a:r>
          </a:p>
          <a:p>
            <a:r>
              <a:rPr lang="pt-BR" dirty="0"/>
              <a:t>Perguntas?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04C1B-0AC8-A37C-C942-54AECBB6910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pt-BR" dirty="0"/>
              <a:t>Introdução e Motivação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645306"/>
            <a:ext cx="7810500" cy="3700462"/>
          </a:xfrm>
        </p:spPr>
        <p:txBody>
          <a:bodyPr>
            <a:normAutofit/>
          </a:bodyPr>
          <a:lstStyle/>
          <a:p>
            <a:r>
              <a:rPr lang="pt-BR" sz="2800" dirty="0"/>
              <a:t>Desenvolvimento de crianças surdas</a:t>
            </a:r>
          </a:p>
          <a:p>
            <a:r>
              <a:rPr lang="pt-BR" sz="2800" dirty="0"/>
              <a:t>Fonoaudiologia Bilíngue</a:t>
            </a:r>
          </a:p>
          <a:p>
            <a:r>
              <a:rPr lang="pt-BR" sz="2800" dirty="0"/>
              <a:t>Expansão do uso de smartphones</a:t>
            </a:r>
          </a:p>
          <a:p>
            <a:r>
              <a:rPr lang="pt-BR" sz="2800" dirty="0"/>
              <a:t>Mobile Learning</a:t>
            </a:r>
          </a:p>
          <a:p>
            <a:r>
              <a:rPr lang="pt-BR" sz="2800" dirty="0"/>
              <a:t>Hora da LIBRAS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00081F-1506-EF61-6DA1-88E9F1DD6A9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04BD-B4CC-8DA5-C003-929D8FFA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CB25D-10EB-5F7C-829F-CD767C8EC2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803530"/>
            <a:ext cx="6321744" cy="359747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Sistema de gestão para educadores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Aplicativo Hora da LIBRAS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43B2F-7E04-767F-4AA6-110FB2BA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28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pt-BR" dirty="0"/>
              <a:t>Trabalhos Relacionados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81306A0-27F8-5734-92DA-8108AFA6B32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21640226"/>
              </p:ext>
            </p:extLst>
          </p:nvPr>
        </p:nvGraphicFramePr>
        <p:xfrm>
          <a:off x="1701798" y="2564092"/>
          <a:ext cx="9766302" cy="2672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7717">
                  <a:extLst>
                    <a:ext uri="{9D8B030D-6E8A-4147-A177-3AD203B41FA5}">
                      <a16:colId xmlns:a16="http://schemas.microsoft.com/office/drawing/2014/main" val="386597098"/>
                    </a:ext>
                  </a:extLst>
                </a:gridCol>
                <a:gridCol w="1627717">
                  <a:extLst>
                    <a:ext uri="{9D8B030D-6E8A-4147-A177-3AD203B41FA5}">
                      <a16:colId xmlns:a16="http://schemas.microsoft.com/office/drawing/2014/main" val="1676736018"/>
                    </a:ext>
                  </a:extLst>
                </a:gridCol>
                <a:gridCol w="1627717">
                  <a:extLst>
                    <a:ext uri="{9D8B030D-6E8A-4147-A177-3AD203B41FA5}">
                      <a16:colId xmlns:a16="http://schemas.microsoft.com/office/drawing/2014/main" val="3747530167"/>
                    </a:ext>
                  </a:extLst>
                </a:gridCol>
                <a:gridCol w="1627717">
                  <a:extLst>
                    <a:ext uri="{9D8B030D-6E8A-4147-A177-3AD203B41FA5}">
                      <a16:colId xmlns:a16="http://schemas.microsoft.com/office/drawing/2014/main" val="2447694570"/>
                    </a:ext>
                  </a:extLst>
                </a:gridCol>
                <a:gridCol w="1627717">
                  <a:extLst>
                    <a:ext uri="{9D8B030D-6E8A-4147-A177-3AD203B41FA5}">
                      <a16:colId xmlns:a16="http://schemas.microsoft.com/office/drawing/2014/main" val="1970657092"/>
                    </a:ext>
                  </a:extLst>
                </a:gridCol>
                <a:gridCol w="1627717">
                  <a:extLst>
                    <a:ext uri="{9D8B030D-6E8A-4147-A177-3AD203B41FA5}">
                      <a16:colId xmlns:a16="http://schemas.microsoft.com/office/drawing/2014/main" val="19522766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Trabalho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Dicionário de LIBRAS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Criação de conteúdo por educadores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Turmas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Conteúdo compartilhado entre educadores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Portal de aprovações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207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Silva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❌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❌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✅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❌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❌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0277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Silva (2018)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Apenas Sinais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7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Lima (2018)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❌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✅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❌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✅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❌</a:t>
                      </a: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86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Proposta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>
                          <a:solidFill>
                            <a:schemeClr val="bg1"/>
                          </a:solidFill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766283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4382FF-FC02-EC75-BFB8-239A924D7F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0394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D063C36-CDDC-C063-AF46-2D89F6E3BC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Solução Proposta</a:t>
            </a:r>
          </a:p>
        </p:txBody>
      </p:sp>
    </p:spTree>
    <p:extLst>
      <p:ext uri="{BB962C8B-B14F-4D97-AF65-F5344CB8AC3E}">
        <p14:creationId xmlns:p14="http://schemas.microsoft.com/office/powerpoint/2010/main" val="381677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pt-BR" dirty="0"/>
              <a:t>Requisitos Funcionais</a:t>
            </a:r>
            <a:br>
              <a:rPr lang="pt-BR" dirty="0"/>
            </a:br>
            <a:r>
              <a:rPr lang="pt-BR" sz="2800" dirty="0"/>
              <a:t>Sistema Web de Gestão</a:t>
            </a:r>
            <a:endParaRPr lang="pt-BR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645306"/>
            <a:ext cx="7810500" cy="370046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Acervo de Conteúdos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Dicionário de Termos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Turmas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Portal de Aprovações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Central de Notificações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FB9A7D-E771-7581-84BD-169036958F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165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04BD-B4CC-8DA5-C003-929D8FFA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Funcionais</a:t>
            </a:r>
            <a:br>
              <a:rPr lang="pt-BR" dirty="0"/>
            </a:br>
            <a:r>
              <a:rPr lang="pt-BR" sz="2800" dirty="0"/>
              <a:t>Aplicativo Hora da LIBRAS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CB25D-10EB-5F7C-829F-CD767C8EC2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803530"/>
            <a:ext cx="6321744" cy="359747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Regionalização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Turmas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Navegação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6FF6D-6929-F4E7-5DE3-9145CCD7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5462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pt-BR" dirty="0"/>
              <a:t>Requisitos Não-Funcionais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645306"/>
            <a:ext cx="7810500" cy="370046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Desempenho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Segurança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Compatibilidade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Usabilidade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2660FA-13EC-090E-FB9C-EBA97D258F3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9679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04BD-B4CC-8DA5-C003-929D8FFA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Metodologia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CB25D-10EB-5F7C-829F-CD767C8EC2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803530"/>
            <a:ext cx="6321744" cy="359747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Scrum - Sprints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Linguagem de Modelagem Unificada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Programação Orientada a Objetos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Testes automatizados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BB76B-AA5D-D589-2051-170CDE84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2433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pt-BR" dirty="0"/>
              <a:t>Arquitetura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6" name="Content Placeholder 5" descr="A diagram of a software application&#10;&#10;Description automatically generated">
            <a:extLst>
              <a:ext uri="{FF2B5EF4-FFF2-40B4-BE49-F238E27FC236}">
                <a16:creationId xmlns:a16="http://schemas.microsoft.com/office/drawing/2014/main" id="{8160B1FC-FFD2-9848-854B-EB8345EA58B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447" y="2175309"/>
            <a:ext cx="7234618" cy="4302493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ECE0EA-153B-5D53-0DD0-46B44928095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811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04BD-B4CC-8DA5-C003-929D8FFA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Tecnologias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CB25D-10EB-5F7C-829F-CD767C8EC2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803530"/>
            <a:ext cx="6321744" cy="359747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GitLab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TypeScript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NodeJS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NestJS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React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ViteJS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27FCB5-F719-C12E-73B0-8A5AF7081E4A}"/>
              </a:ext>
            </a:extLst>
          </p:cNvPr>
          <p:cNvSpPr txBox="1">
            <a:spLocks/>
          </p:cNvSpPr>
          <p:nvPr/>
        </p:nvSpPr>
        <p:spPr>
          <a:xfrm>
            <a:off x="4280396" y="2801930"/>
            <a:ext cx="6321744" cy="359747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Aplicação Web Progressiva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Vitest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Playwright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PNPM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MongoDB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93394-DDF2-0C9E-8BF2-A1BA64341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4398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pt-BR" dirty="0"/>
              <a:t>Cronograma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CC70B88-15A9-2774-31E3-9C928428B6C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7998481"/>
              </p:ext>
            </p:extLst>
          </p:nvPr>
        </p:nvGraphicFramePr>
        <p:xfrm>
          <a:off x="3026603" y="2146485"/>
          <a:ext cx="8870224" cy="4450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108778">
                  <a:extLst>
                    <a:ext uri="{9D8B030D-6E8A-4147-A177-3AD203B41FA5}">
                      <a16:colId xmlns:a16="http://schemas.microsoft.com/office/drawing/2014/main" val="1494495369"/>
                    </a:ext>
                  </a:extLst>
                </a:gridCol>
                <a:gridCol w="1108778">
                  <a:extLst>
                    <a:ext uri="{9D8B030D-6E8A-4147-A177-3AD203B41FA5}">
                      <a16:colId xmlns:a16="http://schemas.microsoft.com/office/drawing/2014/main" val="2449465546"/>
                    </a:ext>
                  </a:extLst>
                </a:gridCol>
                <a:gridCol w="1108778">
                  <a:extLst>
                    <a:ext uri="{9D8B030D-6E8A-4147-A177-3AD203B41FA5}">
                      <a16:colId xmlns:a16="http://schemas.microsoft.com/office/drawing/2014/main" val="3257487690"/>
                    </a:ext>
                  </a:extLst>
                </a:gridCol>
                <a:gridCol w="1108778">
                  <a:extLst>
                    <a:ext uri="{9D8B030D-6E8A-4147-A177-3AD203B41FA5}">
                      <a16:colId xmlns:a16="http://schemas.microsoft.com/office/drawing/2014/main" val="2037427224"/>
                    </a:ext>
                  </a:extLst>
                </a:gridCol>
                <a:gridCol w="1108778">
                  <a:extLst>
                    <a:ext uri="{9D8B030D-6E8A-4147-A177-3AD203B41FA5}">
                      <a16:colId xmlns:a16="http://schemas.microsoft.com/office/drawing/2014/main" val="520025387"/>
                    </a:ext>
                  </a:extLst>
                </a:gridCol>
                <a:gridCol w="1108778">
                  <a:extLst>
                    <a:ext uri="{9D8B030D-6E8A-4147-A177-3AD203B41FA5}">
                      <a16:colId xmlns:a16="http://schemas.microsoft.com/office/drawing/2014/main" val="2783474698"/>
                    </a:ext>
                  </a:extLst>
                </a:gridCol>
                <a:gridCol w="1108778">
                  <a:extLst>
                    <a:ext uri="{9D8B030D-6E8A-4147-A177-3AD203B41FA5}">
                      <a16:colId xmlns:a16="http://schemas.microsoft.com/office/drawing/2014/main" val="2079796544"/>
                    </a:ext>
                  </a:extLst>
                </a:gridCol>
                <a:gridCol w="1108778">
                  <a:extLst>
                    <a:ext uri="{9D8B030D-6E8A-4147-A177-3AD203B41FA5}">
                      <a16:colId xmlns:a16="http://schemas.microsoft.com/office/drawing/2014/main" val="235536674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BR" b="1" noProof="0" dirty="0"/>
                        <a:t>Atividade</a:t>
                      </a: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2024</a:t>
                      </a:r>
                      <a:endParaRPr lang="pt-BR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2025</a:t>
                      </a:r>
                      <a:endParaRPr lang="pt-BR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1649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noProof="0" dirty="0"/>
                        <a:t>Ago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noProof="0" dirty="0"/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noProof="0" dirty="0"/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noProof="0" dirty="0"/>
                        <a:t>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noProof="0" dirty="0"/>
                        <a:t>Dez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noProof="0" dirty="0"/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noProof="0" dirty="0"/>
                        <a:t>Fev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829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48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84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53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677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76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8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547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46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79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40347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E40823-16E6-6CA4-13B3-EB290373CF1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3371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pt-BR" noProof="1"/>
              <a:t>Perguntas?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Raul Martins Furtado Fernandes</a:t>
            </a:r>
          </a:p>
          <a:p>
            <a:r>
              <a:rPr lang="en-US" dirty="0"/>
              <a:t>raul.fernandes@aluno.cefet-rj.br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{1D22984B-242B-4086-AB2D-F865153D97F7}tf78853419_win32</Template>
  <TotalTime>182</TotalTime>
  <Words>314</Words>
  <Application>Microsoft Office PowerPoint</Application>
  <PresentationFormat>Widescreen</PresentationFormat>
  <Paragraphs>152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Franklin Gothic Book</vt:lpstr>
      <vt:lpstr>Franklin Gothic Demi</vt:lpstr>
      <vt:lpstr>Custom</vt:lpstr>
      <vt:lpstr>Um Sistema de gestão para apoio ao aplicativo Hora da Libras</vt:lpstr>
      <vt:lpstr>Agenda</vt:lpstr>
      <vt:lpstr>Introdução e Motivação</vt:lpstr>
      <vt:lpstr>Objetivos</vt:lpstr>
      <vt:lpstr>Trabalhos Relacionados</vt:lpstr>
      <vt:lpstr>Solução Proposta</vt:lpstr>
      <vt:lpstr>Requisitos Funcionais Sistema Web de Gestão</vt:lpstr>
      <vt:lpstr>Requisitos Funcionais Aplicativo Hora da LIBRAS</vt:lpstr>
      <vt:lpstr>Requisitos Não-Funcionais</vt:lpstr>
      <vt:lpstr>Metodologia</vt:lpstr>
      <vt:lpstr>Arquitetura</vt:lpstr>
      <vt:lpstr>Tecnologias</vt:lpstr>
      <vt:lpstr>Cronograma</vt:lpstr>
      <vt:lpstr>Perguntas?</vt:lpstr>
    </vt:vector>
  </TitlesOfParts>
  <Company>Oracle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 Sistema de gestão para apoio ao aplicativo Hora da Libras</dc:title>
  <dc:creator>Raul Fernandes</dc:creator>
  <cp:lastModifiedBy>Raul Fernandes</cp:lastModifiedBy>
  <cp:revision>5</cp:revision>
  <dcterms:created xsi:type="dcterms:W3CDTF">2024-09-18T17:01:56Z</dcterms:created>
  <dcterms:modified xsi:type="dcterms:W3CDTF">2024-09-18T20:24:07Z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